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legraf" charset="1" panose="00000500000000000000"/>
      <p:regular r:id="rId13"/>
    </p:embeddedFont>
    <p:embeddedFont>
      <p:font typeface="Klein Bold" charset="1" panose="02000503060000020004"/>
      <p:regular r:id="rId14"/>
    </p:embeddedFont>
    <p:embeddedFont>
      <p:font typeface="Helios" charset="1" panose="020B0504020202020204"/>
      <p:regular r:id="rId15"/>
    </p:embeddedFont>
    <p:embeddedFont>
      <p:font typeface="Helios Bold" charset="1" panose="020B07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7902203"/>
            <a:ext cx="7538043" cy="1082814"/>
            <a:chOff x="0" y="0"/>
            <a:chExt cx="10050724" cy="144375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92570" y="222250"/>
              <a:ext cx="9858154" cy="1221503"/>
              <a:chOff x="0" y="0"/>
              <a:chExt cx="1947290" cy="24128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47290" cy="241284"/>
              </a:xfrm>
              <a:custGeom>
                <a:avLst/>
                <a:gdLst/>
                <a:ahLst/>
                <a:cxnLst/>
                <a:rect r="r" b="b" t="t" l="l"/>
                <a:pathLst>
                  <a:path h="241284" w="1947290">
                    <a:moveTo>
                      <a:pt x="104711" y="0"/>
                    </a:moveTo>
                    <a:lnTo>
                      <a:pt x="1842579" y="0"/>
                    </a:lnTo>
                    <a:cubicBezTo>
                      <a:pt x="1900409" y="0"/>
                      <a:pt x="1947290" y="46881"/>
                      <a:pt x="1947290" y="104711"/>
                    </a:cubicBezTo>
                    <a:lnTo>
                      <a:pt x="1947290" y="136574"/>
                    </a:lnTo>
                    <a:cubicBezTo>
                      <a:pt x="1947290" y="194404"/>
                      <a:pt x="1900409" y="241284"/>
                      <a:pt x="1842579" y="241284"/>
                    </a:cubicBezTo>
                    <a:lnTo>
                      <a:pt x="104711" y="241284"/>
                    </a:lnTo>
                    <a:cubicBezTo>
                      <a:pt x="46881" y="241284"/>
                      <a:pt x="0" y="194404"/>
                      <a:pt x="0" y="136574"/>
                    </a:cubicBezTo>
                    <a:lnTo>
                      <a:pt x="0" y="104711"/>
                    </a:lnTo>
                    <a:cubicBezTo>
                      <a:pt x="0" y="46881"/>
                      <a:pt x="46881" y="0"/>
                      <a:pt x="104711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947290" cy="307959"/>
              </a:xfrm>
              <a:prstGeom prst="rect">
                <a:avLst/>
              </a:prstGeom>
            </p:spPr>
            <p:txBody>
              <a:bodyPr anchor="ctr" rtlCol="false" tIns="127000" lIns="127000" bIns="127000" rIns="1270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2A2E3A"/>
                    </a:solidFill>
                    <a:latin typeface="Telegraf"/>
                    <a:ea typeface="Telegraf"/>
                    <a:cs typeface="Telegraf"/>
                    <a:sym typeface="Telegraf"/>
                  </a:rPr>
                  <a:t>Presented By: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2A2E3A"/>
                    </a:solidFill>
                    <a:latin typeface="Telegraf"/>
                    <a:ea typeface="Telegraf"/>
                    <a:cs typeface="Telegraf"/>
                    <a:sym typeface="Telegraf"/>
                  </a:rPr>
                  <a:t>Md. Maidul Hassan Shanto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651256" cy="65125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8893" lIns="28893" bIns="28893" rIns="28893"/>
              <a:lstStyle/>
              <a:p>
                <a:pPr algn="ctr">
                  <a:lnSpc>
                    <a:spcPts val="262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2570" y="192570"/>
              <a:ext cx="266117" cy="266117"/>
            </a:xfrm>
            <a:custGeom>
              <a:avLst/>
              <a:gdLst/>
              <a:ahLst/>
              <a:cxnLst/>
              <a:rect r="r" b="b" t="t" l="l"/>
              <a:pathLst>
                <a:path h="266117" w="266117">
                  <a:moveTo>
                    <a:pt x="0" y="0"/>
                  </a:moveTo>
                  <a:lnTo>
                    <a:pt x="266116" y="0"/>
                  </a:lnTo>
                  <a:lnTo>
                    <a:pt x="266116" y="266116"/>
                  </a:lnTo>
                  <a:lnTo>
                    <a:pt x="0" y="266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3739168"/>
            <a:ext cx="8115300" cy="2808664"/>
            <a:chOff x="0" y="0"/>
            <a:chExt cx="10820400" cy="374488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10820400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E-Commerce Marketing Performance Analytics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287983"/>
              <a:ext cx="10498974" cy="145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DRevenue Growth, Channel Efficiency &amp; Customer Retention Strategy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893638"/>
            <a:chOff x="0" y="0"/>
            <a:chExt cx="24384000" cy="2524851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35646" r="0" b="48812"/>
            <a:stretch>
              <a:fillRect/>
            </a:stretch>
          </p:blipFill>
          <p:spPr>
            <a:xfrm flipH="false" flipV="false">
              <a:off x="0" y="0"/>
              <a:ext cx="24384000" cy="2524851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218177" y="1893638"/>
            <a:ext cx="18079348" cy="8393362"/>
            <a:chOff x="0" y="0"/>
            <a:chExt cx="4761639" cy="22105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61639" cy="2210597"/>
            </a:xfrm>
            <a:custGeom>
              <a:avLst/>
              <a:gdLst/>
              <a:ahLst/>
              <a:cxnLst/>
              <a:rect r="r" b="b" t="t" l="l"/>
              <a:pathLst>
                <a:path h="2210597" w="4761639">
                  <a:moveTo>
                    <a:pt x="0" y="0"/>
                  </a:moveTo>
                  <a:lnTo>
                    <a:pt x="4761639" y="0"/>
                  </a:lnTo>
                  <a:lnTo>
                    <a:pt x="4761639" y="2210597"/>
                  </a:lnTo>
                  <a:lnTo>
                    <a:pt x="0" y="221059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761639" cy="2277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33203" y="-1109791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0873" y="3415932"/>
            <a:ext cx="9123924" cy="5421260"/>
          </a:xfrm>
          <a:custGeom>
            <a:avLst/>
            <a:gdLst/>
            <a:ahLst/>
            <a:cxnLst/>
            <a:rect r="r" b="b" t="t" l="l"/>
            <a:pathLst>
              <a:path h="5421260" w="9123924">
                <a:moveTo>
                  <a:pt x="0" y="0"/>
                </a:moveTo>
                <a:lnTo>
                  <a:pt x="9123924" y="0"/>
                </a:lnTo>
                <a:lnTo>
                  <a:pt x="9123924" y="5421260"/>
                </a:lnTo>
                <a:lnTo>
                  <a:pt x="0" y="54212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74" t="0" r="-674" b="-297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6004" y="758221"/>
            <a:ext cx="15813296" cy="82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b="true" sz="500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Top 3 Reasons for Slowing Revenue Growth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116424" y="6698718"/>
            <a:ext cx="6886010" cy="2980030"/>
            <a:chOff x="0" y="0"/>
            <a:chExt cx="1813599" cy="784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3599" cy="784864"/>
            </a:xfrm>
            <a:custGeom>
              <a:avLst/>
              <a:gdLst/>
              <a:ahLst/>
              <a:cxnLst/>
              <a:rect r="r" b="b" t="t" l="l"/>
              <a:pathLst>
                <a:path h="784864" w="1813599">
                  <a:moveTo>
                    <a:pt x="33729" y="0"/>
                  </a:moveTo>
                  <a:lnTo>
                    <a:pt x="1779870" y="0"/>
                  </a:lnTo>
                  <a:cubicBezTo>
                    <a:pt x="1788816" y="0"/>
                    <a:pt x="1797395" y="3554"/>
                    <a:pt x="1803720" y="9879"/>
                  </a:cubicBezTo>
                  <a:cubicBezTo>
                    <a:pt x="1810046" y="16204"/>
                    <a:pt x="1813599" y="24783"/>
                    <a:pt x="1813599" y="33729"/>
                  </a:cubicBezTo>
                  <a:lnTo>
                    <a:pt x="1813599" y="751135"/>
                  </a:lnTo>
                  <a:cubicBezTo>
                    <a:pt x="1813599" y="760080"/>
                    <a:pt x="1810046" y="768659"/>
                    <a:pt x="1803720" y="774985"/>
                  </a:cubicBezTo>
                  <a:cubicBezTo>
                    <a:pt x="1797395" y="781310"/>
                    <a:pt x="1788816" y="784864"/>
                    <a:pt x="1779870" y="784864"/>
                  </a:cubicBezTo>
                  <a:lnTo>
                    <a:pt x="33729" y="784864"/>
                  </a:lnTo>
                  <a:cubicBezTo>
                    <a:pt x="24783" y="784864"/>
                    <a:pt x="16204" y="781310"/>
                    <a:pt x="9879" y="774985"/>
                  </a:cubicBezTo>
                  <a:cubicBezTo>
                    <a:pt x="3554" y="768659"/>
                    <a:pt x="0" y="760080"/>
                    <a:pt x="0" y="751135"/>
                  </a:cubicBezTo>
                  <a:lnTo>
                    <a:pt x="0" y="33729"/>
                  </a:lnTo>
                  <a:cubicBezTo>
                    <a:pt x="0" y="24783"/>
                    <a:pt x="3554" y="16204"/>
                    <a:pt x="9879" y="9879"/>
                  </a:cubicBezTo>
                  <a:cubicBezTo>
                    <a:pt x="16204" y="3554"/>
                    <a:pt x="24783" y="0"/>
                    <a:pt x="33729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13599" cy="82296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Comment: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​Revenue has grown 9.2% over 6 months, while Ad Spend surged by 131.2%. It's a "Diminishing Returns" phase where every additional BDT spent is generating significantly less incremental revenue.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​The widening gap between marketing investment and revenue indicates that the scaling strategy is currently inefficient.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16424" y="2411522"/>
            <a:ext cx="6886010" cy="3769312"/>
            <a:chOff x="0" y="0"/>
            <a:chExt cx="1813599" cy="9927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3599" cy="992741"/>
            </a:xfrm>
            <a:custGeom>
              <a:avLst/>
              <a:gdLst/>
              <a:ahLst/>
              <a:cxnLst/>
              <a:rect r="r" b="b" t="t" l="l"/>
              <a:pathLst>
                <a:path h="992741" w="1813599">
                  <a:moveTo>
                    <a:pt x="33729" y="0"/>
                  </a:moveTo>
                  <a:lnTo>
                    <a:pt x="1779870" y="0"/>
                  </a:lnTo>
                  <a:cubicBezTo>
                    <a:pt x="1788816" y="0"/>
                    <a:pt x="1797395" y="3554"/>
                    <a:pt x="1803720" y="9879"/>
                  </a:cubicBezTo>
                  <a:cubicBezTo>
                    <a:pt x="1810046" y="16204"/>
                    <a:pt x="1813599" y="24783"/>
                    <a:pt x="1813599" y="33729"/>
                  </a:cubicBezTo>
                  <a:lnTo>
                    <a:pt x="1813599" y="959012"/>
                  </a:lnTo>
                  <a:cubicBezTo>
                    <a:pt x="1813599" y="967957"/>
                    <a:pt x="1810046" y="976536"/>
                    <a:pt x="1803720" y="982862"/>
                  </a:cubicBezTo>
                  <a:cubicBezTo>
                    <a:pt x="1797395" y="989187"/>
                    <a:pt x="1788816" y="992741"/>
                    <a:pt x="1779870" y="992741"/>
                  </a:cubicBezTo>
                  <a:lnTo>
                    <a:pt x="33729" y="992741"/>
                  </a:lnTo>
                  <a:cubicBezTo>
                    <a:pt x="24783" y="992741"/>
                    <a:pt x="16204" y="989187"/>
                    <a:pt x="9879" y="982862"/>
                  </a:cubicBezTo>
                  <a:cubicBezTo>
                    <a:pt x="3554" y="976536"/>
                    <a:pt x="0" y="967957"/>
                    <a:pt x="0" y="959012"/>
                  </a:cubicBezTo>
                  <a:lnTo>
                    <a:pt x="0" y="33729"/>
                  </a:lnTo>
                  <a:cubicBezTo>
                    <a:pt x="0" y="24783"/>
                    <a:pt x="3554" y="16204"/>
                    <a:pt x="9879" y="9879"/>
                  </a:cubicBezTo>
                  <a:cubicBezTo>
                    <a:pt x="16204" y="3554"/>
                    <a:pt x="24783" y="0"/>
                    <a:pt x="33729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13599" cy="103084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Decreasing Conversion Rate (CR): While sessions grew by 62% (from 420k in Jan to 680k in Jun), orders only grew by 14% (9.2k to 10.5k). The conversion rate dropped from 2.19% in January to 1.54% in June.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Diminishing Returns on Ad Spend: Ad spend increased by 131% (3.2M to 7.4M), but revenue only increased by 9% (18.4M to 20.1M). You are paying significantly more to acquire users who are spending less.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Declining Average Order Value (AOV): In January, the AOV was 2,000 BDT. By June, it dropped to 1,914 BDT. We are attracting "window shoppers" or low-value customers rather than high-spenders.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548262" y="640625"/>
            <a:ext cx="12063594" cy="1543072"/>
            <a:chOff x="0" y="0"/>
            <a:chExt cx="16084792" cy="205742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6084792" cy="1156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20"/>
                </a:lnSpc>
              </a:pPr>
              <a:r>
                <a:rPr lang="en-US" sz="5400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Traffic Quality &amp; Conversion Decay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49828"/>
              <a:ext cx="1452168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Increasing Traffic, Decreasing Intent</a:t>
              </a:r>
              <a:r>
                <a:rPr lang="en-US" sz="3199" u="none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628249"/>
            <a:ext cx="8596410" cy="5630051"/>
          </a:xfrm>
          <a:custGeom>
            <a:avLst/>
            <a:gdLst/>
            <a:ahLst/>
            <a:cxnLst/>
            <a:rect r="r" b="b" t="t" l="l"/>
            <a:pathLst>
              <a:path h="5630051" w="8596410">
                <a:moveTo>
                  <a:pt x="0" y="0"/>
                </a:moveTo>
                <a:lnTo>
                  <a:pt x="8596410" y="0"/>
                </a:lnTo>
                <a:lnTo>
                  <a:pt x="8596410" y="5630051"/>
                </a:lnTo>
                <a:lnTo>
                  <a:pt x="0" y="563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5" t="-98" r="0" b="-3815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834811" y="3628249"/>
            <a:ext cx="5876666" cy="2348397"/>
            <a:chOff x="0" y="0"/>
            <a:chExt cx="1547764" cy="6185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7764" cy="618508"/>
            </a:xfrm>
            <a:custGeom>
              <a:avLst/>
              <a:gdLst/>
              <a:ahLst/>
              <a:cxnLst/>
              <a:rect r="r" b="b" t="t" l="l"/>
              <a:pathLst>
                <a:path h="618508" w="1547764">
                  <a:moveTo>
                    <a:pt x="39522" y="0"/>
                  </a:moveTo>
                  <a:lnTo>
                    <a:pt x="1508242" y="0"/>
                  </a:lnTo>
                  <a:cubicBezTo>
                    <a:pt x="1530069" y="0"/>
                    <a:pt x="1547764" y="17695"/>
                    <a:pt x="1547764" y="39522"/>
                  </a:cubicBezTo>
                  <a:lnTo>
                    <a:pt x="1547764" y="578986"/>
                  </a:lnTo>
                  <a:cubicBezTo>
                    <a:pt x="1547764" y="600813"/>
                    <a:pt x="1530069" y="618508"/>
                    <a:pt x="1508242" y="618508"/>
                  </a:cubicBezTo>
                  <a:lnTo>
                    <a:pt x="39522" y="618508"/>
                  </a:lnTo>
                  <a:cubicBezTo>
                    <a:pt x="17695" y="618508"/>
                    <a:pt x="0" y="600813"/>
                    <a:pt x="0" y="578986"/>
                  </a:cubicBezTo>
                  <a:lnTo>
                    <a:pt x="0" y="39522"/>
                  </a:lnTo>
                  <a:cubicBezTo>
                    <a:pt x="0" y="17695"/>
                    <a:pt x="17695" y="0"/>
                    <a:pt x="3952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7764" cy="65660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Total Sessions rose by 62%, but the Conversion Rate plummeted from 2.19% in Jan to 1.54% in Jun.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​We are driving "top-of-funnel" traffic that isn't converting. This suggests our current ad targeting is attracting low-intent users.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34811" y="6197113"/>
            <a:ext cx="5876666" cy="2873883"/>
            <a:chOff x="0" y="0"/>
            <a:chExt cx="1547764" cy="7569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7764" cy="756907"/>
            </a:xfrm>
            <a:custGeom>
              <a:avLst/>
              <a:gdLst/>
              <a:ahLst/>
              <a:cxnLst/>
              <a:rect r="r" b="b" t="t" l="l"/>
              <a:pathLst>
                <a:path h="756907" w="1547764">
                  <a:moveTo>
                    <a:pt x="39522" y="0"/>
                  </a:moveTo>
                  <a:lnTo>
                    <a:pt x="1508242" y="0"/>
                  </a:lnTo>
                  <a:cubicBezTo>
                    <a:pt x="1530069" y="0"/>
                    <a:pt x="1547764" y="17695"/>
                    <a:pt x="1547764" y="39522"/>
                  </a:cubicBezTo>
                  <a:lnTo>
                    <a:pt x="1547764" y="717385"/>
                  </a:lnTo>
                  <a:cubicBezTo>
                    <a:pt x="1547764" y="739213"/>
                    <a:pt x="1530069" y="756907"/>
                    <a:pt x="1508242" y="756907"/>
                  </a:cubicBezTo>
                  <a:lnTo>
                    <a:pt x="39522" y="756907"/>
                  </a:lnTo>
                  <a:cubicBezTo>
                    <a:pt x="29040" y="756907"/>
                    <a:pt x="18988" y="752744"/>
                    <a:pt x="11576" y="745332"/>
                  </a:cubicBezTo>
                  <a:cubicBezTo>
                    <a:pt x="4164" y="737920"/>
                    <a:pt x="0" y="727867"/>
                    <a:pt x="0" y="717385"/>
                  </a:cubicBezTo>
                  <a:lnTo>
                    <a:pt x="0" y="39522"/>
                  </a:lnTo>
                  <a:cubicBezTo>
                    <a:pt x="0" y="17695"/>
                    <a:pt x="17695" y="0"/>
                    <a:pt x="3952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7764" cy="79500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Comment: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Monthly sessions increased from 420,000 to 680,000 (+62%), but Conversion Rate (CR) dropped from 2.19% to 1.54%.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High traffic volume is masking a significant drop in traffic quality. ​We are successfully attracting visitors, but they have lower purchasing intent or find the platform's user experience (UX) friction too high for the current product mix.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36382"/>
            <a:ext cx="8796150" cy="5816454"/>
          </a:xfrm>
          <a:custGeom>
            <a:avLst/>
            <a:gdLst/>
            <a:ahLst/>
            <a:cxnLst/>
            <a:rect r="r" b="b" t="t" l="l"/>
            <a:pathLst>
              <a:path h="5816454" w="8796150">
                <a:moveTo>
                  <a:pt x="0" y="0"/>
                </a:moveTo>
                <a:lnTo>
                  <a:pt x="8796150" y="0"/>
                </a:lnTo>
                <a:lnTo>
                  <a:pt x="8796150" y="5816454"/>
                </a:lnTo>
                <a:lnTo>
                  <a:pt x="0" y="581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119505"/>
            <a:ext cx="12063594" cy="1604667"/>
            <a:chOff x="0" y="0"/>
            <a:chExt cx="16084792" cy="213955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6084792" cy="1247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40"/>
                </a:lnSpc>
              </a:pPr>
              <a:r>
                <a:rPr lang="en-US" sz="5800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Channel Performance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31954"/>
              <a:ext cx="1452168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For the month of June</a:t>
              </a:r>
              <a:r>
                <a:rPr lang="en-US" sz="3199" u="none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34811" y="4052459"/>
            <a:ext cx="5876666" cy="2348397"/>
            <a:chOff x="0" y="0"/>
            <a:chExt cx="1547764" cy="618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7764" cy="618508"/>
            </a:xfrm>
            <a:custGeom>
              <a:avLst/>
              <a:gdLst/>
              <a:ahLst/>
              <a:cxnLst/>
              <a:rect r="r" b="b" t="t" l="l"/>
              <a:pathLst>
                <a:path h="618508" w="1547764">
                  <a:moveTo>
                    <a:pt x="39522" y="0"/>
                  </a:moveTo>
                  <a:lnTo>
                    <a:pt x="1508242" y="0"/>
                  </a:lnTo>
                  <a:cubicBezTo>
                    <a:pt x="1530069" y="0"/>
                    <a:pt x="1547764" y="17695"/>
                    <a:pt x="1547764" y="39522"/>
                  </a:cubicBezTo>
                  <a:lnTo>
                    <a:pt x="1547764" y="578986"/>
                  </a:lnTo>
                  <a:cubicBezTo>
                    <a:pt x="1547764" y="600813"/>
                    <a:pt x="1530069" y="618508"/>
                    <a:pt x="1508242" y="618508"/>
                  </a:cubicBezTo>
                  <a:lnTo>
                    <a:pt x="39522" y="618508"/>
                  </a:lnTo>
                  <a:cubicBezTo>
                    <a:pt x="17695" y="618508"/>
                    <a:pt x="0" y="600813"/>
                    <a:pt x="0" y="578986"/>
                  </a:cubicBezTo>
                  <a:lnTo>
                    <a:pt x="0" y="39522"/>
                  </a:lnTo>
                  <a:cubicBezTo>
                    <a:pt x="0" y="17695"/>
                    <a:pt x="17695" y="0"/>
                    <a:pt x="3952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47764" cy="65660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Google Ads is your most efficient paid channel with a conversion rate of 2.05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Emails also hold a good position with a ROAS score of 9.33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Affiliate is the worst performer, costing 2,250 BDT per order while only generating 300,000 BDT in total revenue.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34811" y="6844609"/>
            <a:ext cx="5876666" cy="2597658"/>
            <a:chOff x="0" y="0"/>
            <a:chExt cx="1547764" cy="684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7764" cy="684157"/>
            </a:xfrm>
            <a:custGeom>
              <a:avLst/>
              <a:gdLst/>
              <a:ahLst/>
              <a:cxnLst/>
              <a:rect r="r" b="b" t="t" l="l"/>
              <a:pathLst>
                <a:path h="684157" w="1547764">
                  <a:moveTo>
                    <a:pt x="39522" y="0"/>
                  </a:moveTo>
                  <a:lnTo>
                    <a:pt x="1508242" y="0"/>
                  </a:lnTo>
                  <a:cubicBezTo>
                    <a:pt x="1530069" y="0"/>
                    <a:pt x="1547764" y="17695"/>
                    <a:pt x="1547764" y="39522"/>
                  </a:cubicBezTo>
                  <a:lnTo>
                    <a:pt x="1547764" y="644635"/>
                  </a:lnTo>
                  <a:cubicBezTo>
                    <a:pt x="1547764" y="666462"/>
                    <a:pt x="1530069" y="684157"/>
                    <a:pt x="1508242" y="684157"/>
                  </a:cubicBezTo>
                  <a:lnTo>
                    <a:pt x="39522" y="684157"/>
                  </a:lnTo>
                  <a:cubicBezTo>
                    <a:pt x="29040" y="684157"/>
                    <a:pt x="18988" y="679993"/>
                    <a:pt x="11576" y="672581"/>
                  </a:cubicBezTo>
                  <a:cubicBezTo>
                    <a:pt x="4164" y="665169"/>
                    <a:pt x="0" y="655117"/>
                    <a:pt x="0" y="644635"/>
                  </a:cubicBezTo>
                  <a:lnTo>
                    <a:pt x="0" y="39522"/>
                  </a:lnTo>
                  <a:cubicBezTo>
                    <a:pt x="0" y="17695"/>
                    <a:pt x="17695" y="0"/>
                    <a:pt x="3952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47764" cy="7222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Comment: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Google Ads ROAS is 3.16; Affiliate ROAS is 0.33. CAC for Affiliate is 2,250 BDT compared to 641 BDT for Google.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Affiliate Marketing is currently burning cash, costing more to acquire a customer than the revenue they generate.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​Email Marketing is our most efficient hidden gem with a 9.33 ROAS, suggesting we should shift focus toward our existing database.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1834811" y="3614261"/>
            <a:ext cx="5876666" cy="2348397"/>
            <a:chOff x="0" y="0"/>
            <a:chExt cx="1547764" cy="618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7764" cy="618508"/>
            </a:xfrm>
            <a:custGeom>
              <a:avLst/>
              <a:gdLst/>
              <a:ahLst/>
              <a:cxnLst/>
              <a:rect r="r" b="b" t="t" l="l"/>
              <a:pathLst>
                <a:path h="618508" w="1547764">
                  <a:moveTo>
                    <a:pt x="39522" y="0"/>
                  </a:moveTo>
                  <a:lnTo>
                    <a:pt x="1508242" y="0"/>
                  </a:lnTo>
                  <a:cubicBezTo>
                    <a:pt x="1530069" y="0"/>
                    <a:pt x="1547764" y="17695"/>
                    <a:pt x="1547764" y="39522"/>
                  </a:cubicBezTo>
                  <a:lnTo>
                    <a:pt x="1547764" y="578986"/>
                  </a:lnTo>
                  <a:cubicBezTo>
                    <a:pt x="1547764" y="600813"/>
                    <a:pt x="1530069" y="618508"/>
                    <a:pt x="1508242" y="618508"/>
                  </a:cubicBezTo>
                  <a:lnTo>
                    <a:pt x="39522" y="618508"/>
                  </a:lnTo>
                  <a:cubicBezTo>
                    <a:pt x="17695" y="618508"/>
                    <a:pt x="0" y="600813"/>
                    <a:pt x="0" y="578986"/>
                  </a:cubicBezTo>
                  <a:lnTo>
                    <a:pt x="0" y="39522"/>
                  </a:lnTo>
                  <a:cubicBezTo>
                    <a:pt x="0" y="17695"/>
                    <a:pt x="17695" y="0"/>
                    <a:pt x="3952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47764" cy="65660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While new user acquisition is up 93%, the 60-day re-purchase rate has dropped from 15.9% (Jan) to 10.8% (May).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​We are failing to build customer loyalty. It is 5-7x cheaper to retain a customer than to acquire a new one and our current strategy ignores this.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34811" y="6597273"/>
            <a:ext cx="5876666" cy="2348397"/>
            <a:chOff x="0" y="0"/>
            <a:chExt cx="1547764" cy="6185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7764" cy="618508"/>
            </a:xfrm>
            <a:custGeom>
              <a:avLst/>
              <a:gdLst/>
              <a:ahLst/>
              <a:cxnLst/>
              <a:rect r="r" b="b" t="t" l="l"/>
              <a:pathLst>
                <a:path h="618508" w="1547764">
                  <a:moveTo>
                    <a:pt x="39522" y="0"/>
                  </a:moveTo>
                  <a:lnTo>
                    <a:pt x="1508242" y="0"/>
                  </a:lnTo>
                  <a:cubicBezTo>
                    <a:pt x="1530069" y="0"/>
                    <a:pt x="1547764" y="17695"/>
                    <a:pt x="1547764" y="39522"/>
                  </a:cubicBezTo>
                  <a:lnTo>
                    <a:pt x="1547764" y="578986"/>
                  </a:lnTo>
                  <a:cubicBezTo>
                    <a:pt x="1547764" y="600813"/>
                    <a:pt x="1530069" y="618508"/>
                    <a:pt x="1508242" y="618508"/>
                  </a:cubicBezTo>
                  <a:lnTo>
                    <a:pt x="39522" y="618508"/>
                  </a:lnTo>
                  <a:cubicBezTo>
                    <a:pt x="17695" y="618508"/>
                    <a:pt x="0" y="600813"/>
                    <a:pt x="0" y="578986"/>
                  </a:cubicBezTo>
                  <a:lnTo>
                    <a:pt x="0" y="39522"/>
                  </a:lnTo>
                  <a:cubicBezTo>
                    <a:pt x="0" y="17695"/>
                    <a:pt x="17695" y="0"/>
                    <a:pt x="3952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47764" cy="65660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Comment: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​We are operating a "Leaky Bucket" model where we are paying high premiums to acquire new users but failing to keep them.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​Sustainable growth requires a pivot toward retention, even a 5% drop in retention drastically reduces the long-term Lifetime Value (LTV) of our customers.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382054"/>
            <a:ext cx="8994038" cy="5876246"/>
          </a:xfrm>
          <a:custGeom>
            <a:avLst/>
            <a:gdLst/>
            <a:ahLst/>
            <a:cxnLst/>
            <a:rect r="r" b="b" t="t" l="l"/>
            <a:pathLst>
              <a:path h="5876246" w="8994038">
                <a:moveTo>
                  <a:pt x="0" y="0"/>
                </a:moveTo>
                <a:lnTo>
                  <a:pt x="8994038" y="0"/>
                </a:lnTo>
                <a:lnTo>
                  <a:pt x="8994038" y="5876246"/>
                </a:lnTo>
                <a:lnTo>
                  <a:pt x="0" y="587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48262" y="640625"/>
            <a:ext cx="12063594" cy="1543072"/>
            <a:chOff x="0" y="0"/>
            <a:chExt cx="16084792" cy="205742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16084792" cy="1156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20"/>
                </a:lnSpc>
              </a:pPr>
              <a:r>
                <a:rPr lang="en-US" sz="5400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The Retention Crisis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349828"/>
              <a:ext cx="1452168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Acquisition Scaling is Hiding a Retention Problem.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45659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52192" y="3041820"/>
            <a:ext cx="7498848" cy="3693033"/>
            <a:chOff x="0" y="0"/>
            <a:chExt cx="1975005" cy="9726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005" cy="972651"/>
            </a:xfrm>
            <a:custGeom>
              <a:avLst/>
              <a:gdLst/>
              <a:ahLst/>
              <a:cxnLst/>
              <a:rect r="r" b="b" t="t" l="l"/>
              <a:pathLst>
                <a:path h="972651" w="1975005">
                  <a:moveTo>
                    <a:pt x="30972" y="0"/>
                  </a:moveTo>
                  <a:lnTo>
                    <a:pt x="1944033" y="0"/>
                  </a:lnTo>
                  <a:cubicBezTo>
                    <a:pt x="1952247" y="0"/>
                    <a:pt x="1960125" y="3263"/>
                    <a:pt x="1965934" y="9072"/>
                  </a:cubicBezTo>
                  <a:cubicBezTo>
                    <a:pt x="1971742" y="14880"/>
                    <a:pt x="1975005" y="22758"/>
                    <a:pt x="1975005" y="30972"/>
                  </a:cubicBezTo>
                  <a:lnTo>
                    <a:pt x="1975005" y="941678"/>
                  </a:lnTo>
                  <a:cubicBezTo>
                    <a:pt x="1975005" y="958784"/>
                    <a:pt x="1961138" y="972651"/>
                    <a:pt x="1944033" y="972651"/>
                  </a:cubicBezTo>
                  <a:lnTo>
                    <a:pt x="30972" y="972651"/>
                  </a:lnTo>
                  <a:cubicBezTo>
                    <a:pt x="22758" y="972651"/>
                    <a:pt x="14880" y="969388"/>
                    <a:pt x="9072" y="963579"/>
                  </a:cubicBezTo>
                  <a:cubicBezTo>
                    <a:pt x="3263" y="957771"/>
                    <a:pt x="0" y="949893"/>
                    <a:pt x="0" y="941678"/>
                  </a:cubicBezTo>
                  <a:lnTo>
                    <a:pt x="0" y="30972"/>
                  </a:lnTo>
                  <a:cubicBezTo>
                    <a:pt x="0" y="22758"/>
                    <a:pt x="3263" y="14880"/>
                    <a:pt x="9072" y="9072"/>
                  </a:cubicBezTo>
                  <a:cubicBezTo>
                    <a:pt x="14880" y="3263"/>
                    <a:pt x="22758" y="0"/>
                    <a:pt x="3097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75005" cy="101075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Strongest by Volume (Orders): Fashion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​With 4,200 orders, this category drives the highest frequency of transactions, making it the primary driver for customer acquisition and site traffic.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Strongest by Revenue: Electronics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​Generating 9,800,000 BDT, Electronics accounts for nearly 49% of the total monthly revenue (out of 20.1M BDT total). It is the heavy lifter for the company’s top-line growth.  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​Strongest by Average Order Value (AOV): Electronics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​At 3,161 BDT per order, it significantly outperforms the other categories (the next closest is Beauty at 1,600 BDT).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52192" y="7211103"/>
            <a:ext cx="7498848" cy="2873883"/>
            <a:chOff x="0" y="0"/>
            <a:chExt cx="1975005" cy="756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5005" cy="756907"/>
            </a:xfrm>
            <a:custGeom>
              <a:avLst/>
              <a:gdLst/>
              <a:ahLst/>
              <a:cxnLst/>
              <a:rect r="r" b="b" t="t" l="l"/>
              <a:pathLst>
                <a:path h="756907" w="1975005">
                  <a:moveTo>
                    <a:pt x="30972" y="0"/>
                  </a:moveTo>
                  <a:lnTo>
                    <a:pt x="1944033" y="0"/>
                  </a:lnTo>
                  <a:cubicBezTo>
                    <a:pt x="1952247" y="0"/>
                    <a:pt x="1960125" y="3263"/>
                    <a:pt x="1965934" y="9072"/>
                  </a:cubicBezTo>
                  <a:cubicBezTo>
                    <a:pt x="1971742" y="14880"/>
                    <a:pt x="1975005" y="22758"/>
                    <a:pt x="1975005" y="30972"/>
                  </a:cubicBezTo>
                  <a:lnTo>
                    <a:pt x="1975005" y="725935"/>
                  </a:lnTo>
                  <a:cubicBezTo>
                    <a:pt x="1975005" y="743041"/>
                    <a:pt x="1961138" y="756907"/>
                    <a:pt x="1944033" y="756907"/>
                  </a:cubicBezTo>
                  <a:lnTo>
                    <a:pt x="30972" y="756907"/>
                  </a:lnTo>
                  <a:cubicBezTo>
                    <a:pt x="22758" y="756907"/>
                    <a:pt x="14880" y="753644"/>
                    <a:pt x="9072" y="747836"/>
                  </a:cubicBezTo>
                  <a:cubicBezTo>
                    <a:pt x="3263" y="742027"/>
                    <a:pt x="0" y="734149"/>
                    <a:pt x="0" y="725935"/>
                  </a:cubicBezTo>
                  <a:lnTo>
                    <a:pt x="0" y="30972"/>
                  </a:lnTo>
                  <a:cubicBezTo>
                    <a:pt x="0" y="22758"/>
                    <a:pt x="3263" y="14880"/>
                    <a:pt x="9072" y="9072"/>
                  </a:cubicBezTo>
                  <a:cubicBezTo>
                    <a:pt x="14880" y="3263"/>
                    <a:pt x="22758" y="0"/>
                    <a:pt x="3097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5005" cy="79500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Comment: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Lean into Electronics for Revenue/AOV and use Fashion for high-volume customer acquisition.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​Pivot to Retention: Launch a CRM/Email loyalty campaign (Email currently has an impressive 9.33x ROAS).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​Audit Ad Creative: Investigate why Facebook Ads conversion is lagging behind Google. 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​AOV Optimization: Introduce cross-category bundles (e.g., Beauty + Fashion) to raise average ticket size.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89567" y="3874710"/>
            <a:ext cx="8916816" cy="4637745"/>
          </a:xfrm>
          <a:custGeom>
            <a:avLst/>
            <a:gdLst/>
            <a:ahLst/>
            <a:cxnLst/>
            <a:rect r="r" b="b" t="t" l="l"/>
            <a:pathLst>
              <a:path h="4637745" w="8916816">
                <a:moveTo>
                  <a:pt x="0" y="0"/>
                </a:moveTo>
                <a:lnTo>
                  <a:pt x="8916816" y="0"/>
                </a:lnTo>
                <a:lnTo>
                  <a:pt x="8916816" y="4637745"/>
                </a:lnTo>
                <a:lnTo>
                  <a:pt x="0" y="4637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9567" y="467265"/>
            <a:ext cx="12063594" cy="1604667"/>
            <a:chOff x="0" y="0"/>
            <a:chExt cx="16084792" cy="213955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6084792" cy="1247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40"/>
                </a:lnSpc>
              </a:pPr>
              <a:r>
                <a:rPr lang="en-US" sz="5800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Category Performance Analysis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31954"/>
              <a:ext cx="1452168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Path to Sustainable Growth.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07438" y="-2845897"/>
            <a:ext cx="15978794" cy="15978794"/>
          </a:xfrm>
          <a:custGeom>
            <a:avLst/>
            <a:gdLst/>
            <a:ahLst/>
            <a:cxnLst/>
            <a:rect r="r" b="b" t="t" l="l"/>
            <a:pathLst>
              <a:path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67408" y="3395860"/>
            <a:ext cx="7498848" cy="2767224"/>
            <a:chOff x="0" y="0"/>
            <a:chExt cx="1975005" cy="7288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005" cy="728816"/>
            </a:xfrm>
            <a:custGeom>
              <a:avLst/>
              <a:gdLst/>
              <a:ahLst/>
              <a:cxnLst/>
              <a:rect r="r" b="b" t="t" l="l"/>
              <a:pathLst>
                <a:path h="728816" w="1975005">
                  <a:moveTo>
                    <a:pt x="30972" y="0"/>
                  </a:moveTo>
                  <a:lnTo>
                    <a:pt x="1944033" y="0"/>
                  </a:lnTo>
                  <a:cubicBezTo>
                    <a:pt x="1952247" y="0"/>
                    <a:pt x="1960125" y="3263"/>
                    <a:pt x="1965934" y="9072"/>
                  </a:cubicBezTo>
                  <a:cubicBezTo>
                    <a:pt x="1971742" y="14880"/>
                    <a:pt x="1975005" y="22758"/>
                    <a:pt x="1975005" y="30972"/>
                  </a:cubicBezTo>
                  <a:lnTo>
                    <a:pt x="1975005" y="697844"/>
                  </a:lnTo>
                  <a:cubicBezTo>
                    <a:pt x="1975005" y="714949"/>
                    <a:pt x="1961138" y="728816"/>
                    <a:pt x="1944033" y="728816"/>
                  </a:cubicBezTo>
                  <a:lnTo>
                    <a:pt x="30972" y="728816"/>
                  </a:lnTo>
                  <a:cubicBezTo>
                    <a:pt x="22758" y="728816"/>
                    <a:pt x="14880" y="725553"/>
                    <a:pt x="9072" y="719745"/>
                  </a:cubicBezTo>
                  <a:cubicBezTo>
                    <a:pt x="3263" y="713936"/>
                    <a:pt x="0" y="706058"/>
                    <a:pt x="0" y="697844"/>
                  </a:cubicBezTo>
                  <a:lnTo>
                    <a:pt x="0" y="30972"/>
                  </a:lnTo>
                  <a:cubicBezTo>
                    <a:pt x="0" y="22758"/>
                    <a:pt x="3263" y="14880"/>
                    <a:pt x="9072" y="9072"/>
                  </a:cubicBezTo>
                  <a:cubicBezTo>
                    <a:pt x="14880" y="3263"/>
                    <a:pt x="22758" y="0"/>
                    <a:pt x="30972" y="0"/>
                  </a:cubicBezTo>
                  <a:close/>
                </a:path>
              </a:pathLst>
            </a:custGeom>
            <a:solidFill>
              <a:srgbClr val="1539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80975"/>
              <a:ext cx="1975005" cy="90979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1339"/>
                </a:lnSpc>
              </a:pPr>
              <a:r>
                <a:rPr lang="en-US" sz="8099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DAHILP_rKeA</dc:identifier>
  <dcterms:modified xsi:type="dcterms:W3CDTF">2011-08-01T06:04:30Z</dcterms:modified>
  <cp:revision>1</cp:revision>
  <dc:title>Company Profile Presentation</dc:title>
</cp:coreProperties>
</file>